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097280"/>
            <a:ext cx="118872" cy="1097280"/>
          </a:xfrm>
          <a:prstGeom prst="rect">
            <a:avLst/>
          </a:prstGeom>
          <a:solidFill>
            <a:srgbClr val="00C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 b="1">
                <a:solidFill>
                  <a:srgbClr val="00CCB2"/>
                </a:solidFill>
              </a:defRPr>
            </a:pPr>
            <a:r>
              <a:t>EXECUTIVE SUMMARY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Cloud Executive Advisory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300">
                <a:solidFill>
                  <a:srgbClr val="788CA0"/>
                </a:solidFill>
              </a:defRPr>
            </a:pPr>
            <a:r>
              <a:t>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1">
                <a:solidFill>
                  <a:srgbClr val="FFFFFF"/>
                </a:solidFill>
              </a:defRPr>
            </a:pPr>
            <a:r>
              <a:t>Admin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1031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300">
                <a:solidFill>
                  <a:srgbClr val="788CA0"/>
                </a:solidFill>
              </a:defRPr>
            </a:pPr>
            <a:r>
              <a:t>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2860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1">
                <a:solidFill>
                  <a:srgbClr val="FFFFFF"/>
                </a:solidFill>
              </a:defRPr>
            </a:pPr>
            <a:r>
              <a:t>2026-03-20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>
                <a:solidFill>
                  <a:srgbClr val="FF3C3C"/>
                </a:solidFill>
              </a:defRPr>
            </a:pPr>
            <a:r>
              <a:t>CONFIDENTIAL — FOR EXECUTIVE REVIEW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FFFFF"/>
                </a:solidFill>
              </a:defRPr>
            </a:pPr>
            <a:r>
              <a:t>Executive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286000" cy="1188720"/>
          </a:xfrm>
          <a:prstGeom prst="rect">
            <a:avLst/>
          </a:prstGeom>
          <a:solidFill>
            <a:srgbClr val="203850"/>
          </a:solidFill>
          <a:ln w="25400">
            <a:solidFill>
              <a:srgbClr val="203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2200" b="1">
                <a:solidFill>
                  <a:srgbClr val="0099FF"/>
                </a:solidFill>
              </a:defRPr>
            </a:pPr>
            <a:r>
              <a:t>WALLET</a:t>
            </a:r>
          </a:p>
          <a:p>
            <a:pPr>
              <a:defRPr sz="1300">
                <a:solidFill>
                  <a:srgbClr val="0099FF"/>
                </a:solidFill>
              </a:defRPr>
            </a:pPr>
            <a:r>
              <a:t>MONTHLY SPEND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$29,200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39" y="1371600"/>
            <a:ext cx="2286000" cy="1188720"/>
          </a:xfrm>
          <a:prstGeom prst="rect">
            <a:avLst/>
          </a:prstGeom>
          <a:solidFill>
            <a:srgbClr val="203850"/>
          </a:solidFill>
          <a:ln w="25400">
            <a:solidFill>
              <a:srgbClr val="203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2200" b="1">
                <a:solidFill>
                  <a:srgbClr val="0099FF"/>
                </a:solidFill>
              </a:defRPr>
            </a:pPr>
            <a:r>
              <a:t>CALENDAR</a:t>
            </a:r>
          </a:p>
          <a:p>
            <a:pPr>
              <a:defRPr sz="1300">
                <a:solidFill>
                  <a:srgbClr val="0099FF"/>
                </a:solidFill>
              </a:defRPr>
            </a:pPr>
            <a:r>
              <a:t>ANNUAL RUN RATE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$350,397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59" y="1371600"/>
            <a:ext cx="2286000" cy="1188720"/>
          </a:xfrm>
          <a:prstGeom prst="rect">
            <a:avLst/>
          </a:prstGeom>
          <a:solidFill>
            <a:srgbClr val="203850"/>
          </a:solidFill>
          <a:ln w="25400">
            <a:solidFill>
              <a:srgbClr val="203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2200" b="1">
                <a:solidFill>
                  <a:srgbClr val="0099FF"/>
                </a:solidFill>
              </a:defRPr>
            </a:pPr>
            <a:r>
              <a:t>PIGGY</a:t>
            </a:r>
          </a:p>
          <a:p>
            <a:pPr>
              <a:defRPr sz="1300">
                <a:solidFill>
                  <a:srgbClr val="0099FF"/>
                </a:solidFill>
              </a:defRPr>
            </a:pPr>
            <a:r>
              <a:t>SAVINGS OPPORTUNITY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$15,650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834640"/>
            <a:ext cx="2286000" cy="1188720"/>
          </a:xfrm>
          <a:prstGeom prst="rect">
            <a:avLst/>
          </a:prstGeom>
          <a:solidFill>
            <a:srgbClr val="203850"/>
          </a:solidFill>
          <a:ln w="25400">
            <a:solidFill>
              <a:srgbClr val="203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2200" b="1">
                <a:solidFill>
                  <a:srgbClr val="0099FF"/>
                </a:solidFill>
              </a:defRPr>
            </a:pPr>
            <a:r>
              <a:t>SERVER</a:t>
            </a:r>
          </a:p>
          <a:p>
            <a:pPr>
              <a:defRPr sz="1300">
                <a:solidFill>
                  <a:srgbClr val="0099FF"/>
                </a:solidFill>
              </a:defRPr>
            </a:pPr>
            <a:r>
              <a:t>TOP COST DRIVER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EC2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39" y="2834640"/>
            <a:ext cx="2286000" cy="1188720"/>
          </a:xfrm>
          <a:prstGeom prst="rect">
            <a:avLst/>
          </a:prstGeom>
          <a:solidFill>
            <a:srgbClr val="203850"/>
          </a:solidFill>
          <a:ln w="25400">
            <a:solidFill>
              <a:srgbClr val="203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2200" b="1">
                <a:solidFill>
                  <a:srgbClr val="0099FF"/>
                </a:solidFill>
              </a:defRPr>
            </a:pPr>
            <a:r>
              <a:t>GAUGE</a:t>
            </a:r>
          </a:p>
          <a:p>
            <a:pPr>
              <a:defRPr sz="1300">
                <a:solidFill>
                  <a:srgbClr val="0099FF"/>
                </a:solidFill>
              </a:defRPr>
            </a:pPr>
            <a:r>
              <a:t>CLOUD MATURITY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81/100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19" y="3703320"/>
            <a:ext cx="1920240" cy="137160"/>
          </a:xfrm>
          <a:prstGeom prst="rect">
            <a:avLst/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19" y="3703320"/>
            <a:ext cx="1555394" cy="13716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