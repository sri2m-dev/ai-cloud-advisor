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ABC9C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Cloud Executive</a:t>
            </a:r>
            <a:br/>
            <a:r>
              <a:t>Advisory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8FA0B5"/>
                </a:solidFill>
                <a:latin typeface="Open Sans"/>
              </a:defRPr>
            </a:pPr>
            <a: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Admin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116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8FA0B5"/>
                </a:solidFill>
                <a:latin typeface="Open Sans"/>
              </a:defRPr>
            </a:pPr>
            <a: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2026-03-22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E74C3C"/>
                </a:solidFill>
                <a:latin typeface="Open Sans"/>
              </a:defRPr>
            </a:pPr>
            <a:r>
              <a:t>Confidential — For Executive Review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0972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+ + + +</a:t>
            </a:r>
            <a:br/>
            <a:r>
              <a:t>+ + + +</a:t>
            </a:r>
            <a:br/>
            <a:r>
              <a:t>+ + + +</a:t>
            </a:r>
            <a:br/>
            <a:r>
              <a:t>+ + + 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800">
                <a:solidFill>
                  <a:srgbClr val="FFFFFF"/>
                </a:solidFill>
                <a:latin typeface="Montserrat"/>
              </a:defRPr>
            </a:pPr>
            <a:r>
              <a:t>+ + +</a:t>
            </a:r>
            <a:br/>
            <a:r>
              <a:t>+ + +</a:t>
            </a:r>
            <a:br/>
            <a:r>
              <a:t>+ + 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Executive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468880" cy="15544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>
                <a:solidFill>
                  <a:srgbClr val="3498DB"/>
                </a:solidFill>
                <a:latin typeface="Segoe UI Emoji"/>
              </a:defRPr>
            </a:pPr>
            <a:r>
              <a:t>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8FA0B5"/>
                </a:solidFill>
                <a:latin typeface="Open Sans"/>
              </a:defRPr>
            </a:pPr>
            <a:r>
              <a:t>MONTHLY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$29,200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54480"/>
            <a:ext cx="2468880" cy="15544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>
                <a:solidFill>
                  <a:srgbClr val="3498DB"/>
                </a:solidFill>
                <a:latin typeface="Segoe UI Emoji"/>
              </a:defRPr>
            </a:pPr>
            <a: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31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8FA0B5"/>
                </a:solidFill>
                <a:latin typeface="Open Sans"/>
              </a:defRPr>
            </a:pPr>
            <a:r>
              <a:t>ANNUAL RUN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0604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$350,397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554480"/>
            <a:ext cx="2468880" cy="15544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>
                <a:solidFill>
                  <a:srgbClr val="1ABC9C"/>
                </a:solidFill>
                <a:latin typeface="Segoe UI Emoji"/>
              </a:defRPr>
            </a:pPr>
            <a:r>
              <a:t>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3317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BC9C"/>
                </a:solidFill>
                <a:latin typeface="Open Sans"/>
              </a:defRPr>
            </a:pPr>
            <a:r>
              <a:t>SAVINGS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60604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$15,650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383280"/>
            <a:ext cx="2468880" cy="15544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>
                <a:solidFill>
                  <a:srgbClr val="3498DB"/>
                </a:solidFill>
                <a:latin typeface="Segoe UI Emoji"/>
              </a:defRPr>
            </a:pPr>
            <a:r>
              <a:t>🖥️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60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8FA0B5"/>
                </a:solidFill>
                <a:latin typeface="Open Sans"/>
              </a:defRPr>
            </a:pPr>
            <a:r>
              <a:t>TOP COST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EC2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383280"/>
            <a:ext cx="2468880" cy="1554480"/>
          </a:xfrm>
          <a:prstGeom prst="roundRect">
            <a:avLst/>
          </a:prstGeom>
          <a:solidFill>
            <a:srgbClr val="15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>
                <a:solidFill>
                  <a:srgbClr val="1ABC9C"/>
                </a:solidFill>
                <a:latin typeface="Segoe UI Emoji"/>
              </a:defRPr>
            </a:pPr>
            <a:r>
              <a:t>⏱️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160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ABC9C"/>
                </a:solidFill>
                <a:latin typeface="Open Sans"/>
              </a:defRPr>
            </a:pPr>
            <a:r>
              <a:t>CLOUD MATURITY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43484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81/100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Distribution</a:t>
            </a:r>
          </a:p>
        </p:txBody>
      </p:sp>
      <p:pic>
        <p:nvPicPr>
          <p:cNvPr id="3" name="Picture 2" descr="co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Metrics:</a:t>
            </a:r>
          </a:p>
          <a:p>
            <a:r>
              <a:t>• Monthly Spend: ₹29,200</a:t>
            </a:r>
          </a:p>
          <a:p>
            <a:r>
              <a:t>• Annual Run Rate: ₹350,397</a:t>
            </a:r>
          </a:p>
          <a:p>
            <a:r>
              <a:t>• Savings Opportunity: ₹15,650</a:t>
            </a:r>
          </a:p>
          <a:p/>
          <a:p>
            <a:r>
              <a:t>Organizational Metrics:</a:t>
            </a:r>
          </a:p>
          <a:p>
            <a:r>
              <a:t>• Cloud Maturity Score: 81/100</a:t>
            </a:r>
          </a:p>
          <a:p>
            <a:r>
              <a:t>• Transformation Readiness: 89/100</a:t>
            </a:r>
          </a:p>
          <a:p>
            <a:r>
              <a:t>• Optimization Priority: High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</a:t>
            </a:r>
          </a:p>
        </p:txBody>
      </p:sp>
      <p:pic>
        <p:nvPicPr>
          <p:cNvPr id="3" name="Picture 2" descr="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(0-30 Days):</a:t>
            </a:r>
          </a:p>
          <a:p>
            <a:r>
              <a:t>• Identify and remove idle resources</a:t>
            </a:r>
          </a:p>
          <a:p>
            <a:r>
              <a:t>• Implement cost monitoring alerts</a:t>
            </a:r>
          </a:p>
          <a:p>
            <a:r>
              <a:t>• Rightsize over-provisioned instances</a:t>
            </a:r>
          </a:p>
          <a:p/>
          <a:p>
            <a:r>
              <a:t>Short-term Initiatives (1-3 Months):</a:t>
            </a:r>
          </a:p>
          <a:p>
            <a:r>
              <a:t>• Implement Reserved Instances/Savings Plans</a:t>
            </a:r>
          </a:p>
          <a:p>
            <a:r>
              <a:t>• Optimize storage lifecycle policies</a:t>
            </a:r>
          </a:p>
          <a:p>
            <a:r>
              <a:t>• Establish FinOps governance</a:t>
            </a:r>
          </a:p>
          <a:p/>
          <a:p>
            <a:r>
              <a:t>Long-term Strategy (3-12 Months):</a:t>
            </a:r>
          </a:p>
          <a:p>
            <a:r>
              <a:t>• Modernize legacy workloads</a:t>
            </a:r>
          </a:p>
          <a:p>
            <a:r>
              <a:t>• Adopt cloud-native architectures</a:t>
            </a:r>
          </a:p>
          <a:p>
            <a:r>
              <a:t>• Implement continuous optimization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