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097280"/>
            <a:ext cx="118872" cy="1097280"/>
          </a:xfrm>
          <a:prstGeom prst="rect">
            <a:avLst/>
          </a:prstGeom>
          <a:solidFill>
            <a:srgbClr val="00C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00CCB2"/>
                </a:solidFill>
              </a:defRPr>
            </a:pPr>
            <a:r>
              <a:t>EXECUTIVE SUMMARY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Cloud Executive Advisory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788CA0"/>
                </a:solidFill>
              </a:defRPr>
            </a:pPr>
            <a:r>
              <a:t>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Admin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788CA0"/>
                </a:solidFill>
              </a:defRPr>
            </a:pPr>
            <a: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2026-03-21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FF3C3C"/>
                </a:solidFill>
              </a:defRPr>
            </a:pPr>
            <a:r>
              <a:t>CONFIDENTIAL — FOR EXECUTIVE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MONTHLY SPEND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$29,200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5064" y="1490472"/>
            <a:ext cx="438912" cy="438912"/>
          </a:xfrm>
          <a:prstGeom prst="rect">
            <a:avLst/>
          </a:prstGeom>
          <a:solidFill>
            <a:srgbClr val="2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1490472"/>
            <a:ext cx="438912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91839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ANNUAL RUN RATE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$350,397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5383" y="1490472"/>
            <a:ext cx="438912" cy="438912"/>
          </a:xfrm>
          <a:prstGeom prst="rect">
            <a:avLst/>
          </a:prstGeom>
          <a:solidFill>
            <a:srgbClr val="2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3" y="1490472"/>
            <a:ext cx="438912" cy="4389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59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SAVINGS OPPORTUNITY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$15,650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75703" y="1490472"/>
            <a:ext cx="438912" cy="438912"/>
          </a:xfrm>
          <a:prstGeom prst="rect">
            <a:avLst/>
          </a:prstGeom>
          <a:solidFill>
            <a:srgbClr val="2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g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3" y="1490472"/>
            <a:ext cx="438912" cy="4389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283464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TOP COST DRIVER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EC2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953512"/>
            <a:ext cx="438912" cy="438912"/>
          </a:xfrm>
          <a:prstGeom prst="rect">
            <a:avLst/>
          </a:prstGeom>
          <a:solidFill>
            <a:srgbClr val="2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064" y="2953512"/>
            <a:ext cx="438912" cy="43891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91839" y="283464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CLOUD MATURITY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81/100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3" y="2953512"/>
            <a:ext cx="438912" cy="438912"/>
          </a:xfrm>
          <a:prstGeom prst="rect">
            <a:avLst/>
          </a:prstGeom>
          <a:solidFill>
            <a:srgbClr val="2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3" y="295351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82880"/>
            <a:ext cx="5486400" cy="548640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4023360"/>
            <a:ext cx="7315200" cy="7315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Priority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8FA0B5"/>
                </a:solidFill>
                <a:latin typeface="Open Sans"/>
              </a:defRPr>
            </a:pPr>
            <a:r>
              <a:t>Next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914400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149840" cy="10972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82296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tim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0886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217627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81/100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9631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8FA0B5"/>
                </a:solidFill>
                <a:latin typeface="Open Sans"/>
              </a:defRPr>
            </a:pPr>
            <a:r>
              <a:t>Review and right-size currently deployed services to match actual workload requirements and eliminate over-provisioning.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308860"/>
            <a:ext cx="82296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4277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3498DB"/>
                </a:solidFill>
                <a:latin typeface="Open Sans"/>
              </a:defRPr>
            </a:pPr>
            <a:r>
              <a:t>PRIORITY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10149840" cy="10972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291840"/>
            <a:ext cx="82296" cy="10972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8902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34564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81/100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7647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8FA0B5"/>
                </a:solidFill>
                <a:latin typeface="Open Sans"/>
              </a:defRPr>
            </a:pPr>
            <a:r>
              <a:t>Commit to consistent usage amounts for EC2 and other stable workloads to unlock significant volume discounts.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3589020"/>
            <a:ext cx="822960" cy="4572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7078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BC9C"/>
                </a:solidFill>
                <a:latin typeface="Open Sans"/>
              </a:defRPr>
            </a:pPr>
            <a:r>
              <a:t>PRIORITY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72000"/>
            <a:ext cx="10149840" cy="10972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572000"/>
            <a:ext cx="82296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e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8691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86000" y="47365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81/100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566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8FA0B5"/>
                </a:solidFill>
                <a:latin typeface="Open Sans"/>
              </a:defRPr>
            </a:pPr>
            <a:r>
              <a:t>Identify and terminate unattached EBS volumes, obsolete snapshots, and zombie instances to immediately reduce monthly spend.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4869180"/>
            <a:ext cx="82296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9880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E74C3C"/>
                </a:solidFill>
                <a:latin typeface="Open Sans"/>
              </a:defRPr>
            </a:pPr>
            <a:r>
              <a:t>PRIORITY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